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handoutMasterIdLst>
    <p:handoutMasterId r:id="rId13"/>
  </p:handoutMasterIdLst>
  <p:sldIdLst>
    <p:sldId id="309" r:id="rId2"/>
    <p:sldId id="310" r:id="rId3"/>
    <p:sldId id="311" r:id="rId4"/>
    <p:sldId id="312" r:id="rId5"/>
    <p:sldId id="331" r:id="rId6"/>
    <p:sldId id="313" r:id="rId7"/>
    <p:sldId id="315" r:id="rId8"/>
    <p:sldId id="317" r:id="rId9"/>
    <p:sldId id="318" r:id="rId10"/>
    <p:sldId id="319" r:id="rId11"/>
    <p:sldId id="330" r:id="rId12"/>
  </p:sldIdLst>
  <p:sldSz cx="12192000" cy="6858000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0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1E4A241-7145-419B-8319-709E20F6D895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49689" y="9429750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3456A78-4253-44C9-BC09-7035D4952A1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95243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961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145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5498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5512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32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4405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68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4858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909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331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2078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8149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4619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9349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64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1548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C5E4E-1A97-47B6-95B8-E397CC0DA4DF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EDE0572-A9A8-4C66-BEDA-92FFA56223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571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4FAD1-24C3-4EA0-985B-164D316C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1A19-B276-44BB-820A-8FF064F767B5}" type="slidenum">
              <a:rPr lang="it-IT" smtClean="0"/>
              <a:t>1</a:t>
            </a:fld>
            <a:endParaRPr lang="it-IT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5B53E0-466F-44E9-B6A6-65174C445CE8}"/>
              </a:ext>
            </a:extLst>
          </p:cNvPr>
          <p:cNvSpPr/>
          <p:nvPr/>
        </p:nvSpPr>
        <p:spPr>
          <a:xfrm>
            <a:off x="4165107" y="1429305"/>
            <a:ext cx="3861786" cy="79899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ysClr val="windowText" lastClr="000000"/>
                </a:solidFill>
              </a:rPr>
              <a:t>Market’s bids:</a:t>
            </a:r>
          </a:p>
          <a:p>
            <a:pPr algn="ctr"/>
            <a:r>
              <a:rPr lang="it-IT" dirty="0">
                <a:solidFill>
                  <a:sysClr val="windowText" lastClr="000000"/>
                </a:solidFill>
              </a:rPr>
              <a:t>Overall power to be decreased and related unit benefit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030D4C7-60E6-4DC0-B8F8-D7D5D42A7FED}"/>
              </a:ext>
            </a:extLst>
          </p:cNvPr>
          <p:cNvSpPr/>
          <p:nvPr/>
        </p:nvSpPr>
        <p:spPr>
          <a:xfrm>
            <a:off x="5903650" y="2228295"/>
            <a:ext cx="408373" cy="401398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670E0A7-9E98-45FA-8D8D-AE918C06F23D}"/>
              </a:ext>
            </a:extLst>
          </p:cNvPr>
          <p:cNvSpPr/>
          <p:nvPr/>
        </p:nvSpPr>
        <p:spPr>
          <a:xfrm>
            <a:off x="8859783" y="2892979"/>
            <a:ext cx="2584142" cy="79899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ysClr val="windowText" lastClr="000000"/>
                </a:solidFill>
              </a:rPr>
              <a:t>Initial states and model parameters</a:t>
            </a:r>
            <a:endParaRPr lang="it-IT" dirty="0">
              <a:solidFill>
                <a:sysClr val="windowText" lastClr="000000"/>
              </a:solidFill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9ACDDEE1-D714-4EAA-8506-7FB07CDAD03E}"/>
              </a:ext>
            </a:extLst>
          </p:cNvPr>
          <p:cNvSpPr/>
          <p:nvPr/>
        </p:nvSpPr>
        <p:spPr>
          <a:xfrm rot="5400000">
            <a:off x="8086011" y="2722890"/>
            <a:ext cx="408373" cy="113917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4F3ACB-BC13-4EB1-A5F5-099FE83487B0}"/>
              </a:ext>
            </a:extLst>
          </p:cNvPr>
          <p:cNvSpPr/>
          <p:nvPr/>
        </p:nvSpPr>
        <p:spPr>
          <a:xfrm>
            <a:off x="4471386" y="2629693"/>
            <a:ext cx="3249227" cy="132556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ysClr val="windowText" lastClr="000000"/>
                </a:solidFill>
              </a:rPr>
              <a:t>LU’s emulation and AGG optimization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0768BF-7E38-463D-AA78-7D5A40E6B824}"/>
              </a:ext>
            </a:extLst>
          </p:cNvPr>
          <p:cNvSpPr/>
          <p:nvPr/>
        </p:nvSpPr>
        <p:spPr>
          <a:xfrm>
            <a:off x="-8709" y="0"/>
            <a:ext cx="12192000" cy="6851624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A5B83-4694-4752-A850-C6AD37472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 – </a:t>
            </a:r>
            <a:r>
              <a:rPr lang="it-IT" sz="3200" dirty="0"/>
              <a:t>System architecture</a:t>
            </a:r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B0822366-F3A2-44F7-94D6-A1FDFAB9CE58}"/>
              </a:ext>
            </a:extLst>
          </p:cNvPr>
          <p:cNvSpPr/>
          <p:nvPr/>
        </p:nvSpPr>
        <p:spPr>
          <a:xfrm>
            <a:off x="9444361" y="3686507"/>
            <a:ext cx="1025372" cy="1749916"/>
          </a:xfrm>
          <a:prstGeom prst="bentUp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D18A33-8A6E-42FB-B99D-DB7C6A2694A4}"/>
              </a:ext>
            </a:extLst>
          </p:cNvPr>
          <p:cNvGrpSpPr/>
          <p:nvPr/>
        </p:nvGrpSpPr>
        <p:grpSpPr>
          <a:xfrm>
            <a:off x="2747637" y="4869720"/>
            <a:ext cx="6696724" cy="1749917"/>
            <a:chOff x="883328" y="4523499"/>
            <a:chExt cx="6696724" cy="174991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505E675-66BB-4CE1-9E15-76F187EA3F5A}"/>
                </a:ext>
              </a:extLst>
            </p:cNvPr>
            <p:cNvSpPr/>
            <p:nvPr/>
          </p:nvSpPr>
          <p:spPr>
            <a:xfrm>
              <a:off x="883328" y="4523499"/>
              <a:ext cx="6696724" cy="174991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0A7F088-17C5-450A-B4D7-D17F175303F4}"/>
                </a:ext>
              </a:extLst>
            </p:cNvPr>
            <p:cNvSpPr/>
            <p:nvPr/>
          </p:nvSpPr>
          <p:spPr>
            <a:xfrm>
              <a:off x="1487138" y="4622926"/>
              <a:ext cx="2068497" cy="292963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Buildings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569BC7E-845A-4FA9-8E46-D665CB7AF5D6}"/>
                </a:ext>
              </a:extLst>
            </p:cNvPr>
            <p:cNvSpPr/>
            <p:nvPr/>
          </p:nvSpPr>
          <p:spPr>
            <a:xfrm>
              <a:off x="4926977" y="4622926"/>
              <a:ext cx="2068497" cy="292963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Microgrids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8097EDD-ABB3-4BAD-AF25-61915D5EB750}"/>
                </a:ext>
              </a:extLst>
            </p:cNvPr>
            <p:cNvSpPr/>
            <p:nvPr/>
          </p:nvSpPr>
          <p:spPr>
            <a:xfrm>
              <a:off x="2777600" y="5889953"/>
              <a:ext cx="2819400" cy="29296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b="1" dirty="0"/>
                <a:t>LU’s Objective functions</a:t>
              </a:r>
            </a:p>
          </p:txBody>
        </p:sp>
        <p:pic>
          <p:nvPicPr>
            <p:cNvPr id="13" name="Picture 12" descr="Diagram&#10;&#10;Description automatically generated">
              <a:extLst>
                <a:ext uri="{FF2B5EF4-FFF2-40B4-BE49-F238E27FC236}">
                  <a16:creationId xmlns:a16="http://schemas.microsoft.com/office/drawing/2014/main" id="{13F431DF-3D42-474E-9298-EEBA79CBF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2777" y="4822257"/>
              <a:ext cx="2356895" cy="1193861"/>
            </a:xfrm>
            <a:prstGeom prst="rect">
              <a:avLst/>
            </a:prstGeom>
          </p:spPr>
        </p:pic>
        <p:pic>
          <p:nvPicPr>
            <p:cNvPr id="15" name="Picture 14" descr="Diagram&#10;&#10;Description automatically generated">
              <a:extLst>
                <a:ext uri="{FF2B5EF4-FFF2-40B4-BE49-F238E27FC236}">
                  <a16:creationId xmlns:a16="http://schemas.microsoft.com/office/drawing/2014/main" id="{6ACEBD20-0320-4AC5-A0A8-F0BA0F8CA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506" y="5037381"/>
              <a:ext cx="641759" cy="739911"/>
            </a:xfrm>
            <a:prstGeom prst="rect">
              <a:avLst/>
            </a:prstGeom>
          </p:spPr>
        </p:pic>
      </p:grpSp>
      <p:sp>
        <p:nvSpPr>
          <p:cNvPr id="18" name="Arrow: Down 17">
            <a:extLst>
              <a:ext uri="{FF2B5EF4-FFF2-40B4-BE49-F238E27FC236}">
                <a16:creationId xmlns:a16="http://schemas.microsoft.com/office/drawing/2014/main" id="{BD0E4BE8-BFC9-421C-8530-AA06A025A925}"/>
              </a:ext>
            </a:extLst>
          </p:cNvPr>
          <p:cNvSpPr/>
          <p:nvPr/>
        </p:nvSpPr>
        <p:spPr>
          <a:xfrm>
            <a:off x="5860741" y="3955234"/>
            <a:ext cx="470516" cy="91448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5BFCEE5-D020-4CE6-81B4-2897888E2253}"/>
              </a:ext>
            </a:extLst>
          </p:cNvPr>
          <p:cNvSpPr/>
          <p:nvPr/>
        </p:nvSpPr>
        <p:spPr>
          <a:xfrm>
            <a:off x="3715608" y="4053845"/>
            <a:ext cx="2068497" cy="59069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Prices and Reference values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A61052-CE02-4BCD-A30E-8313B129FBC7}"/>
              </a:ext>
            </a:extLst>
          </p:cNvPr>
          <p:cNvSpPr/>
          <p:nvPr/>
        </p:nvSpPr>
        <p:spPr>
          <a:xfrm>
            <a:off x="2518252" y="4748784"/>
            <a:ext cx="3571875" cy="197269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9833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1A19-B276-44BB-820A-8FF064F767B5}" type="slidenum">
              <a:rPr lang="it-IT" smtClean="0"/>
              <a:t>2</a:t>
            </a:fld>
            <a:endParaRPr lang="it-IT"/>
          </a:p>
        </p:txBody>
      </p:sp>
      <p:graphicFrame>
        <p:nvGraphicFramePr>
          <p:cNvPr id="3" name="Oggetto 2"/>
          <p:cNvGraphicFramePr>
            <a:graphicFrameLocks noChangeAspect="1"/>
          </p:cNvGraphicFramePr>
          <p:nvPr/>
        </p:nvGraphicFramePr>
        <p:xfrm>
          <a:off x="1371600" y="2687638"/>
          <a:ext cx="9447213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43120" imgH="393480" progId="Equation.DSMT4">
                  <p:embed/>
                </p:oleObj>
              </mc:Choice>
              <mc:Fallback>
                <p:oleObj name="Equation" r:id="rId2" imgW="3543120" imgH="393480" progId="Equation.DSMT4">
                  <p:embed/>
                  <p:pic>
                    <p:nvPicPr>
                      <p:cNvPr id="3" name="Ogget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687638"/>
                        <a:ext cx="9447213" cy="1109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A6DE5FC2-0594-5D1F-887F-DFAA919590FD}"/>
              </a:ext>
            </a:extLst>
          </p:cNvPr>
          <p:cNvSpPr txBox="1"/>
          <p:nvPr/>
        </p:nvSpPr>
        <p:spPr>
          <a:xfrm>
            <a:off x="3507743" y="3805553"/>
            <a:ext cx="1463040" cy="707886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+mj-lt"/>
              </a:rPr>
              <a:t>Demand </a:t>
            </a:r>
            <a:r>
              <a:rPr lang="it-IT" sz="2000" b="1" dirty="0" err="1">
                <a:latin typeface="+mj-lt"/>
              </a:rPr>
              <a:t>Response</a:t>
            </a:r>
            <a:endParaRPr lang="it-IT" sz="2000" b="1" dirty="0">
              <a:latin typeface="+mj-lt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0B6BE2D-FB04-E366-17C4-F321998AF514}"/>
              </a:ext>
            </a:extLst>
          </p:cNvPr>
          <p:cNvSpPr txBox="1"/>
          <p:nvPr/>
        </p:nvSpPr>
        <p:spPr>
          <a:xfrm>
            <a:off x="6829204" y="3810782"/>
            <a:ext cx="1463040" cy="707886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+mj-lt"/>
              </a:rPr>
              <a:t>EV </a:t>
            </a:r>
          </a:p>
          <a:p>
            <a:pPr algn="ctr"/>
            <a:r>
              <a:rPr lang="it-IT" sz="2000" b="1" dirty="0" err="1">
                <a:latin typeface="+mj-lt"/>
              </a:rPr>
              <a:t>Charging</a:t>
            </a:r>
            <a:endParaRPr lang="it-IT" sz="2000" b="1" dirty="0">
              <a:latin typeface="+mj-lt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CFB7B71-44E3-F81D-1336-5C783C56809D}"/>
              </a:ext>
            </a:extLst>
          </p:cNvPr>
          <p:cNvSpPr txBox="1"/>
          <p:nvPr/>
        </p:nvSpPr>
        <p:spPr>
          <a:xfrm>
            <a:off x="9419145" y="3805553"/>
            <a:ext cx="1463040" cy="707886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User Comfort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D9A61F63-534D-7C24-C73C-9527A662A19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Optimization</a:t>
            </a:r>
            <a:r>
              <a:rPr lang="it-IT" dirty="0"/>
              <a:t> </a:t>
            </a:r>
            <a:r>
              <a:rPr lang="it-IT" dirty="0" err="1"/>
              <a:t>problem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DE0F601-E726-A652-1B06-944459EC9146}"/>
              </a:ext>
            </a:extLst>
          </p:cNvPr>
          <p:cNvSpPr txBox="1"/>
          <p:nvPr/>
        </p:nvSpPr>
        <p:spPr>
          <a:xfrm>
            <a:off x="1328058" y="4931809"/>
            <a:ext cx="1780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Usually</a:t>
            </a:r>
            <a:r>
              <a:rPr lang="it-IT" dirty="0"/>
              <a:t> on a </a:t>
            </a:r>
            <a:r>
              <a:rPr lang="it-IT" dirty="0" err="1"/>
              <a:t>particular</a:t>
            </a:r>
            <a:r>
              <a:rPr lang="it-IT" dirty="0"/>
              <a:t> time </a:t>
            </a:r>
            <a:r>
              <a:rPr lang="it-IT" dirty="0" err="1"/>
              <a:t>interval</a:t>
            </a:r>
            <a:r>
              <a:rPr lang="it-IT" dirty="0"/>
              <a:t> 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794B028F-65FD-1826-C33E-551A99DF3292}"/>
              </a:ext>
            </a:extLst>
          </p:cNvPr>
          <p:cNvCxnSpPr>
            <a:cxnSpLocks/>
          </p:cNvCxnSpPr>
          <p:nvPr/>
        </p:nvCxnSpPr>
        <p:spPr>
          <a:xfrm flipV="1">
            <a:off x="2381362" y="4261001"/>
            <a:ext cx="1080895" cy="58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ggetto 10">
            <a:extLst>
              <a:ext uri="{FF2B5EF4-FFF2-40B4-BE49-F238E27FC236}">
                <a16:creationId xmlns:a16="http://schemas.microsoft.com/office/drawing/2014/main" id="{798B0B68-3EE0-487E-3722-E023EE683A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8058" y="5855139"/>
          <a:ext cx="1780674" cy="429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560" imgH="177480" progId="Equation.DSMT4">
                  <p:embed/>
                </p:oleObj>
              </mc:Choice>
              <mc:Fallback>
                <p:oleObj name="Equation" r:id="rId4" imgW="736560" imgH="177480" progId="Equation.DSMT4">
                  <p:embed/>
                  <p:pic>
                    <p:nvPicPr>
                      <p:cNvPr id="11" name="Oggetto 10">
                        <a:extLst>
                          <a:ext uri="{FF2B5EF4-FFF2-40B4-BE49-F238E27FC236}">
                            <a16:creationId xmlns:a16="http://schemas.microsoft.com/office/drawing/2014/main" id="{798B0B68-3EE0-487E-3722-E023EE683A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28058" y="5855139"/>
                        <a:ext cx="1780674" cy="4298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120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1A19-B276-44BB-820A-8FF064F767B5}" type="slidenum">
              <a:rPr lang="it-IT" smtClean="0"/>
              <a:t>3</a:t>
            </a:fld>
            <a:endParaRPr lang="it-IT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graphicFrame>
        <p:nvGraphicFramePr>
          <p:cNvPr id="6" name="Oggetto 5"/>
          <p:cNvGraphicFramePr>
            <a:graphicFrameLocks noChangeAspect="1"/>
          </p:cNvGraphicFramePr>
          <p:nvPr/>
        </p:nvGraphicFramePr>
        <p:xfrm>
          <a:off x="882650" y="2438400"/>
          <a:ext cx="1056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62160" imgH="215640" progId="Equation.DSMT4">
                  <p:embed/>
                </p:oleObj>
              </mc:Choice>
              <mc:Fallback>
                <p:oleObj name="Equation" r:id="rId2" imgW="3962160" imgH="215640" progId="Equation.DSMT4">
                  <p:embed/>
                  <p:pic>
                    <p:nvPicPr>
                      <p:cNvPr id="6" name="Ogget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2438400"/>
                        <a:ext cx="10566400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graphicFrame>
        <p:nvGraphicFramePr>
          <p:cNvPr id="8" name="Oggetto 7"/>
          <p:cNvGraphicFramePr>
            <a:graphicFrameLocks noChangeAspect="1"/>
          </p:cNvGraphicFramePr>
          <p:nvPr/>
        </p:nvGraphicFramePr>
        <p:xfrm>
          <a:off x="577850" y="4390546"/>
          <a:ext cx="6611938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57320" imgH="444240" progId="Equation.DSMT4">
                  <p:embed/>
                </p:oleObj>
              </mc:Choice>
              <mc:Fallback>
                <p:oleObj name="Equation" r:id="rId4" imgW="2857320" imgH="444240" progId="Equation.DSMT4">
                  <p:embed/>
                  <p:pic>
                    <p:nvPicPr>
                      <p:cNvPr id="8" name="Ogget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" y="4390546"/>
                        <a:ext cx="6611938" cy="973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graphicFrame>
        <p:nvGraphicFramePr>
          <p:cNvPr id="12" name="Oggetto 11"/>
          <p:cNvGraphicFramePr>
            <a:graphicFrameLocks noChangeAspect="1"/>
          </p:cNvGraphicFramePr>
          <p:nvPr/>
        </p:nvGraphicFramePr>
        <p:xfrm>
          <a:off x="578182" y="5511187"/>
          <a:ext cx="2390273" cy="494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241300" progId="Equation.DSMT4">
                  <p:embed/>
                </p:oleObj>
              </mc:Choice>
              <mc:Fallback>
                <p:oleObj name="Equation" r:id="rId6" imgW="1143000" imgH="241300" progId="Equation.DSMT4">
                  <p:embed/>
                  <p:pic>
                    <p:nvPicPr>
                      <p:cNvPr id="12" name="Oggetto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182" y="5511187"/>
                        <a:ext cx="2390273" cy="4946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955D1956-13AD-C80D-ACE6-4FFF2815EA7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Power Balance &amp; Storage </a:t>
            </a:r>
            <a:r>
              <a:rPr lang="it-IT" dirty="0" err="1"/>
              <a:t>Constraints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21C33AC-3A55-8A73-B086-DE1F5CE874AA}"/>
              </a:ext>
            </a:extLst>
          </p:cNvPr>
          <p:cNvSpPr txBox="1"/>
          <p:nvPr/>
        </p:nvSpPr>
        <p:spPr>
          <a:xfrm>
            <a:off x="577850" y="3168027"/>
            <a:ext cx="854084" cy="40011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+mj-lt"/>
              </a:rPr>
              <a:t>DATA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5CE3D7B-E607-2C7C-7AF4-89959FE59976}"/>
              </a:ext>
            </a:extLst>
          </p:cNvPr>
          <p:cNvSpPr txBox="1"/>
          <p:nvPr/>
        </p:nvSpPr>
        <p:spPr>
          <a:xfrm>
            <a:off x="5738844" y="3168027"/>
            <a:ext cx="854084" cy="40011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+mj-lt"/>
              </a:rPr>
              <a:t>DATA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C96D5FF-C518-493F-6267-C6C420A99273}"/>
              </a:ext>
            </a:extLst>
          </p:cNvPr>
          <p:cNvSpPr txBox="1"/>
          <p:nvPr/>
        </p:nvSpPr>
        <p:spPr>
          <a:xfrm>
            <a:off x="6762855" y="3168027"/>
            <a:ext cx="854084" cy="40011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+mj-lt"/>
              </a:rPr>
              <a:t>DATA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00E1CB2-12F8-588D-0C33-C88E2566FA0B}"/>
              </a:ext>
            </a:extLst>
          </p:cNvPr>
          <p:cNvSpPr txBox="1"/>
          <p:nvPr/>
        </p:nvSpPr>
        <p:spPr>
          <a:xfrm>
            <a:off x="1772986" y="3168027"/>
            <a:ext cx="854084" cy="400110"/>
          </a:xfrm>
          <a:prstGeom prst="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+mj-lt"/>
              </a:rPr>
              <a:t>VAR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91933C0-0861-9C8A-6CCA-1C7C7F251EC1}"/>
              </a:ext>
            </a:extLst>
          </p:cNvPr>
          <p:cNvSpPr txBox="1"/>
          <p:nvPr/>
        </p:nvSpPr>
        <p:spPr>
          <a:xfrm>
            <a:off x="3097083" y="3168027"/>
            <a:ext cx="854084" cy="400110"/>
          </a:xfrm>
          <a:prstGeom prst="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+mj-lt"/>
              </a:rPr>
              <a:t>VAR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1A42366-7C86-82B9-56F4-E186D3D7EE02}"/>
              </a:ext>
            </a:extLst>
          </p:cNvPr>
          <p:cNvSpPr txBox="1"/>
          <p:nvPr/>
        </p:nvSpPr>
        <p:spPr>
          <a:xfrm>
            <a:off x="4383230" y="3168027"/>
            <a:ext cx="854084" cy="400110"/>
          </a:xfrm>
          <a:prstGeom prst="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+mj-lt"/>
              </a:rPr>
              <a:t>VAR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02FD2FE4-003E-4268-E1AB-2D345CB2F66C}"/>
              </a:ext>
            </a:extLst>
          </p:cNvPr>
          <p:cNvSpPr txBox="1"/>
          <p:nvPr/>
        </p:nvSpPr>
        <p:spPr>
          <a:xfrm>
            <a:off x="7875841" y="3168027"/>
            <a:ext cx="854084" cy="400110"/>
          </a:xfrm>
          <a:prstGeom prst="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+mj-lt"/>
              </a:rPr>
              <a:t>VAR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6620590-D743-366D-7514-CF5DA9E779E9}"/>
              </a:ext>
            </a:extLst>
          </p:cNvPr>
          <p:cNvSpPr txBox="1"/>
          <p:nvPr/>
        </p:nvSpPr>
        <p:spPr>
          <a:xfrm>
            <a:off x="9199938" y="3168027"/>
            <a:ext cx="854084" cy="400110"/>
          </a:xfrm>
          <a:prstGeom prst="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+mj-lt"/>
              </a:rPr>
              <a:t>VAR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ED0BC18-65E1-4589-03D3-C7C2D8546AA4}"/>
              </a:ext>
            </a:extLst>
          </p:cNvPr>
          <p:cNvSpPr txBox="1"/>
          <p:nvPr/>
        </p:nvSpPr>
        <p:spPr>
          <a:xfrm>
            <a:off x="10486085" y="3155327"/>
            <a:ext cx="854084" cy="400110"/>
          </a:xfrm>
          <a:prstGeom prst="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+mj-lt"/>
              </a:rPr>
              <a:t>VAR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AF892AB-69DC-B3B3-53D0-24A513A29B0E}"/>
              </a:ext>
            </a:extLst>
          </p:cNvPr>
          <p:cNvSpPr txBox="1"/>
          <p:nvPr/>
        </p:nvSpPr>
        <p:spPr>
          <a:xfrm>
            <a:off x="578182" y="3965900"/>
            <a:ext cx="1306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u="sng" dirty="0">
                <a:latin typeface="+mj-lt"/>
              </a:rPr>
              <a:t>Storage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B0A9948-4D92-CEAF-3784-A820ED160980}"/>
              </a:ext>
            </a:extLst>
          </p:cNvPr>
          <p:cNvSpPr txBox="1"/>
          <p:nvPr/>
        </p:nvSpPr>
        <p:spPr>
          <a:xfrm>
            <a:off x="8796396" y="4427565"/>
            <a:ext cx="2117063" cy="1323439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it-IT" sz="2000" b="1" dirty="0">
              <a:latin typeface="+mj-lt"/>
            </a:endParaRPr>
          </a:p>
          <a:p>
            <a:pPr algn="ctr"/>
            <a:r>
              <a:rPr lang="it-IT" sz="2000" b="1" dirty="0">
                <a:latin typeface="+mj-lt"/>
              </a:rPr>
              <a:t>Bounds on min and max </a:t>
            </a:r>
            <a:r>
              <a:rPr lang="it-IT" sz="2000" b="1" dirty="0" err="1">
                <a:latin typeface="+mj-lt"/>
              </a:rPr>
              <a:t>values</a:t>
            </a:r>
            <a:endParaRPr lang="it-IT" sz="2000" b="1" dirty="0">
              <a:latin typeface="+mj-lt"/>
            </a:endParaRPr>
          </a:p>
          <a:p>
            <a:pPr algn="ctr"/>
            <a:endParaRPr lang="it-IT" sz="2000" b="1" dirty="0">
              <a:latin typeface="+mj-lt"/>
            </a:endParaRP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97AC03E7-3EFD-4F95-89D5-2BABC425507B}"/>
              </a:ext>
            </a:extLst>
          </p:cNvPr>
          <p:cNvSpPr txBox="1"/>
          <p:nvPr/>
        </p:nvSpPr>
        <p:spPr>
          <a:xfrm>
            <a:off x="578182" y="1669448"/>
            <a:ext cx="2209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u="sng" dirty="0">
                <a:latin typeface="+mj-lt"/>
              </a:rPr>
              <a:t>Power balance</a:t>
            </a:r>
          </a:p>
        </p:txBody>
      </p:sp>
    </p:spTree>
    <p:extLst>
      <p:ext uri="{BB962C8B-B14F-4D97-AF65-F5344CB8AC3E}">
        <p14:creationId xmlns:p14="http://schemas.microsoft.com/office/powerpoint/2010/main" val="363491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1A19-B276-44BB-820A-8FF064F767B5}" type="slidenum">
              <a:rPr lang="it-IT" smtClean="0"/>
              <a:t>4</a:t>
            </a:fld>
            <a:endParaRPr lang="it-IT"/>
          </a:p>
        </p:txBody>
      </p:sp>
      <p:graphicFrame>
        <p:nvGraphicFramePr>
          <p:cNvPr id="3" name="Oggetto 2"/>
          <p:cNvGraphicFramePr>
            <a:graphicFrameLocks noChangeAspect="1"/>
          </p:cNvGraphicFramePr>
          <p:nvPr/>
        </p:nvGraphicFramePr>
        <p:xfrm>
          <a:off x="838200" y="1801813"/>
          <a:ext cx="5697538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600" imgH="444240" progId="Equation.DSMT4">
                  <p:embed/>
                </p:oleObj>
              </mc:Choice>
              <mc:Fallback>
                <p:oleObj name="Equation" r:id="rId2" imgW="2298600" imgH="444240" progId="Equation.DSMT4">
                  <p:embed/>
                  <p:pic>
                    <p:nvPicPr>
                      <p:cNvPr id="3" name="Ogget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801813"/>
                        <a:ext cx="5697538" cy="1062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graphicFrame>
        <p:nvGraphicFramePr>
          <p:cNvPr id="5" name="Oggetto 4"/>
          <p:cNvGraphicFramePr>
            <a:graphicFrameLocks noChangeAspect="1"/>
          </p:cNvGraphicFramePr>
          <p:nvPr/>
        </p:nvGraphicFramePr>
        <p:xfrm>
          <a:off x="838200" y="3174495"/>
          <a:ext cx="2752898" cy="56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588" imgH="241195" progId="Equation.DSMT4">
                  <p:embed/>
                </p:oleObj>
              </mc:Choice>
              <mc:Fallback>
                <p:oleObj name="Equation" r:id="rId4" imgW="1180588" imgH="241195" progId="Equation.DSMT4">
                  <p:embed/>
                  <p:pic>
                    <p:nvPicPr>
                      <p:cNvPr id="5" name="Ogget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174495"/>
                        <a:ext cx="2752898" cy="5660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olo 1">
            <a:extLst>
              <a:ext uri="{FF2B5EF4-FFF2-40B4-BE49-F238E27FC236}">
                <a16:creationId xmlns:a16="http://schemas.microsoft.com/office/drawing/2014/main" id="{C7559D53-7ACC-E154-9EA8-4FED4A79921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Electric </a:t>
            </a:r>
            <a:r>
              <a:rPr lang="it-IT" dirty="0" err="1"/>
              <a:t>Vehicles</a:t>
            </a:r>
            <a:endParaRPr lang="it-IT" dirty="0"/>
          </a:p>
        </p:txBody>
      </p:sp>
      <p:graphicFrame>
        <p:nvGraphicFramePr>
          <p:cNvPr id="7" name="Oggetto 6">
            <a:extLst>
              <a:ext uri="{FF2B5EF4-FFF2-40B4-BE49-F238E27FC236}">
                <a16:creationId xmlns:a16="http://schemas.microsoft.com/office/drawing/2014/main" id="{6264023D-972D-B63F-24C6-7A1DF634B8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945948"/>
          <a:ext cx="425681" cy="703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177480" progId="Equation.DSMT4">
                  <p:embed/>
                </p:oleObj>
              </mc:Choice>
              <mc:Fallback>
                <p:oleObj name="Equation" r:id="rId6" imgW="114120" imgH="177480" progId="Equation.DSMT4">
                  <p:embed/>
                  <p:pic>
                    <p:nvPicPr>
                      <p:cNvPr id="7" name="Oggetto 6">
                        <a:extLst>
                          <a:ext uri="{FF2B5EF4-FFF2-40B4-BE49-F238E27FC236}">
                            <a16:creationId xmlns:a16="http://schemas.microsoft.com/office/drawing/2014/main" id="{6264023D-972D-B63F-24C6-7A1DF634B8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8200" y="3945948"/>
                        <a:ext cx="425681" cy="7033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ttangolo 7">
            <a:extLst>
              <a:ext uri="{FF2B5EF4-FFF2-40B4-BE49-F238E27FC236}">
                <a16:creationId xmlns:a16="http://schemas.microsoft.com/office/drawing/2014/main" id="{054733EB-3176-7069-ECDD-69EEA9D02E36}"/>
              </a:ext>
            </a:extLst>
          </p:cNvPr>
          <p:cNvSpPr/>
          <p:nvPr/>
        </p:nvSpPr>
        <p:spPr>
          <a:xfrm>
            <a:off x="1550912" y="4249207"/>
            <a:ext cx="49848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Time at which the charging must be completed</a:t>
            </a:r>
            <a:endParaRPr lang="it-IT" sz="2000" dirty="0"/>
          </a:p>
        </p:txBody>
      </p:sp>
      <p:graphicFrame>
        <p:nvGraphicFramePr>
          <p:cNvPr id="9" name="Oggetto 8">
            <a:extLst>
              <a:ext uri="{FF2B5EF4-FFF2-40B4-BE49-F238E27FC236}">
                <a16:creationId xmlns:a16="http://schemas.microsoft.com/office/drawing/2014/main" id="{8A9E5A55-5E40-1CBE-4626-E82883474E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125868"/>
          <a:ext cx="3387956" cy="618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20480" imgH="241200" progId="Equation.DSMT4">
                  <p:embed/>
                </p:oleObj>
              </mc:Choice>
              <mc:Fallback>
                <p:oleObj name="Equation" r:id="rId8" imgW="1320480" imgH="241200" progId="Equation.DSMT4">
                  <p:embed/>
                  <p:pic>
                    <p:nvPicPr>
                      <p:cNvPr id="9" name="Oggetto 8">
                        <a:extLst>
                          <a:ext uri="{FF2B5EF4-FFF2-40B4-BE49-F238E27FC236}">
                            <a16:creationId xmlns:a16="http://schemas.microsoft.com/office/drawing/2014/main" id="{8A9E5A55-5E40-1CBE-4626-E82883474E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8200" y="5125868"/>
                        <a:ext cx="3387956" cy="6189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ggetto 9">
            <a:extLst>
              <a:ext uri="{FF2B5EF4-FFF2-40B4-BE49-F238E27FC236}">
                <a16:creationId xmlns:a16="http://schemas.microsoft.com/office/drawing/2014/main" id="{FF87FCD2-E3F5-8D32-711E-EC74227505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8094" y="5067378"/>
          <a:ext cx="1237906" cy="618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320" imgH="177480" progId="Equation.DSMT4">
                  <p:embed/>
                </p:oleObj>
              </mc:Choice>
              <mc:Fallback>
                <p:oleObj name="Equation" r:id="rId10" imgW="355320" imgH="177480" progId="Equation.DSMT4">
                  <p:embed/>
                  <p:pic>
                    <p:nvPicPr>
                      <p:cNvPr id="10" name="Oggetto 9">
                        <a:extLst>
                          <a:ext uri="{FF2B5EF4-FFF2-40B4-BE49-F238E27FC236}">
                            <a16:creationId xmlns:a16="http://schemas.microsoft.com/office/drawing/2014/main" id="{FF87FCD2-E3F5-8D32-711E-EC7422750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58094" y="5067378"/>
                        <a:ext cx="1237906" cy="6189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66DFE31-96E3-7757-4A9B-84681056BEE0}"/>
              </a:ext>
            </a:extLst>
          </p:cNvPr>
          <p:cNvSpPr txBox="1"/>
          <p:nvPr/>
        </p:nvSpPr>
        <p:spPr>
          <a:xfrm>
            <a:off x="8524025" y="3078791"/>
            <a:ext cx="2117063" cy="1323439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it-IT" sz="2000" b="1" dirty="0">
              <a:latin typeface="+mj-lt"/>
            </a:endParaRPr>
          </a:p>
          <a:p>
            <a:pPr algn="ctr"/>
            <a:r>
              <a:rPr lang="it-IT" sz="2000" b="1" dirty="0">
                <a:latin typeface="+mj-lt"/>
              </a:rPr>
              <a:t>Bounds on min and max </a:t>
            </a:r>
            <a:r>
              <a:rPr lang="it-IT" sz="2000" b="1" dirty="0" err="1">
                <a:latin typeface="+mj-lt"/>
              </a:rPr>
              <a:t>values</a:t>
            </a:r>
            <a:endParaRPr lang="it-IT" sz="2000" b="1" dirty="0">
              <a:latin typeface="+mj-lt"/>
            </a:endParaRPr>
          </a:p>
          <a:p>
            <a:pPr algn="ctr"/>
            <a:endParaRPr lang="it-IT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02751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1A19-B276-44BB-820A-8FF064F767B5}" type="slidenum">
              <a:rPr lang="it-IT" smtClean="0"/>
              <a:t>5</a:t>
            </a:fld>
            <a:endParaRPr lang="it-IT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graphicFrame>
        <p:nvGraphicFramePr>
          <p:cNvPr id="5" name="Oggetto 4"/>
          <p:cNvGraphicFramePr>
            <a:graphicFrameLocks noChangeAspect="1"/>
          </p:cNvGraphicFramePr>
          <p:nvPr/>
        </p:nvGraphicFramePr>
        <p:xfrm>
          <a:off x="1800884" y="2973846"/>
          <a:ext cx="499745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368280" progId="Equation.DSMT4">
                  <p:embed/>
                </p:oleObj>
              </mc:Choice>
              <mc:Fallback>
                <p:oleObj name="Equation" r:id="rId2" imgW="1892160" imgH="368280" progId="Equation.DSMT4">
                  <p:embed/>
                  <p:pic>
                    <p:nvPicPr>
                      <p:cNvPr id="5" name="Ogget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884" y="2973846"/>
                        <a:ext cx="4997450" cy="881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ttangolo 8"/>
          <p:cNvSpPr/>
          <p:nvPr/>
        </p:nvSpPr>
        <p:spPr>
          <a:xfrm>
            <a:off x="4896336" y="4638197"/>
            <a:ext cx="30319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thermal fluxes exchanged between the building and the external environment</a:t>
            </a:r>
            <a:endParaRPr lang="it-IT" dirty="0"/>
          </a:p>
        </p:txBody>
      </p:sp>
      <p:cxnSp>
        <p:nvCxnSpPr>
          <p:cNvPr id="11" name="Connettore 2 10"/>
          <p:cNvCxnSpPr/>
          <p:nvPr/>
        </p:nvCxnSpPr>
        <p:spPr>
          <a:xfrm flipV="1">
            <a:off x="5987200" y="3666983"/>
            <a:ext cx="80210" cy="971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/>
          <p:cNvCxnSpPr>
            <a:cxnSpLocks/>
            <a:stCxn id="24" idx="0"/>
          </p:cNvCxnSpPr>
          <p:nvPr/>
        </p:nvCxnSpPr>
        <p:spPr>
          <a:xfrm flipV="1">
            <a:off x="4126316" y="3660649"/>
            <a:ext cx="314924" cy="853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tangolo 23"/>
          <p:cNvSpPr/>
          <p:nvPr/>
        </p:nvSpPr>
        <p:spPr>
          <a:xfrm>
            <a:off x="3610790" y="4514069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fan coils </a:t>
            </a:r>
            <a:endParaRPr lang="it-IT" dirty="0"/>
          </a:p>
        </p:txBody>
      </p:sp>
      <p:sp>
        <p:nvSpPr>
          <p:cNvPr id="28" name="Rettangolo 27"/>
          <p:cNvSpPr/>
          <p:nvPr/>
        </p:nvSpPr>
        <p:spPr>
          <a:xfrm>
            <a:off x="6067410" y="2360612"/>
            <a:ext cx="214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Radiation and people</a:t>
            </a:r>
            <a:endParaRPr lang="it-IT" dirty="0"/>
          </a:p>
        </p:txBody>
      </p:sp>
      <p:cxnSp>
        <p:nvCxnSpPr>
          <p:cNvPr id="30" name="Connettore 2 29"/>
          <p:cNvCxnSpPr>
            <a:cxnSpLocks/>
          </p:cNvCxnSpPr>
          <p:nvPr/>
        </p:nvCxnSpPr>
        <p:spPr>
          <a:xfrm flipH="1">
            <a:off x="5506109" y="2755786"/>
            <a:ext cx="521196" cy="330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35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graphicFrame>
        <p:nvGraphicFramePr>
          <p:cNvPr id="36" name="Oggetto 35"/>
          <p:cNvGraphicFramePr>
            <a:graphicFrameLocks noChangeAspect="1"/>
          </p:cNvGraphicFramePr>
          <p:nvPr/>
        </p:nvGraphicFramePr>
        <p:xfrm>
          <a:off x="8610600" y="3616325"/>
          <a:ext cx="19716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80880" progId="Equation.DSMT4">
                  <p:embed/>
                </p:oleObj>
              </mc:Choice>
              <mc:Fallback>
                <p:oleObj name="Equation" r:id="rId4" imgW="914400" imgH="380880" progId="Equation.DSMT4">
                  <p:embed/>
                  <p:pic>
                    <p:nvPicPr>
                      <p:cNvPr id="36" name="Oggetto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3616325"/>
                        <a:ext cx="1971675" cy="831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5E0E2CCB-49DA-5444-C6DE-08EDE56F0421}"/>
              </a:ext>
            </a:extLst>
          </p:cNvPr>
          <p:cNvGrpSpPr/>
          <p:nvPr/>
        </p:nvGrpSpPr>
        <p:grpSpPr>
          <a:xfrm>
            <a:off x="1328058" y="3868093"/>
            <a:ext cx="1780674" cy="1272123"/>
            <a:chOff x="1328058" y="3868093"/>
            <a:chExt cx="1780674" cy="1272123"/>
          </a:xfrm>
        </p:grpSpPr>
        <p:sp>
          <p:nvSpPr>
            <p:cNvPr id="6" name="CasellaDiTesto 5"/>
            <p:cNvSpPr txBox="1"/>
            <p:nvPr/>
          </p:nvSpPr>
          <p:spPr>
            <a:xfrm>
              <a:off x="1328058" y="4493885"/>
              <a:ext cx="17806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 err="1"/>
                <a:t>Internal</a:t>
              </a:r>
              <a:r>
                <a:rPr lang="it-IT" dirty="0"/>
                <a:t> temperature</a:t>
              </a:r>
            </a:p>
          </p:txBody>
        </p:sp>
        <p:cxnSp>
          <p:nvCxnSpPr>
            <p:cNvPr id="8" name="Connettore 2 7"/>
            <p:cNvCxnSpPr/>
            <p:nvPr/>
          </p:nvCxnSpPr>
          <p:spPr>
            <a:xfrm flipV="1">
              <a:off x="2027837" y="3897862"/>
              <a:ext cx="0" cy="481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2 18">
              <a:extLst>
                <a:ext uri="{FF2B5EF4-FFF2-40B4-BE49-F238E27FC236}">
                  <a16:creationId xmlns:a16="http://schemas.microsoft.com/office/drawing/2014/main" id="{1E10C1D2-A999-C310-4882-351071DF1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3981" y="3868093"/>
              <a:ext cx="304371" cy="6133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" name="Oggetto 6">
            <a:extLst>
              <a:ext uri="{FF2B5EF4-FFF2-40B4-BE49-F238E27FC236}">
                <a16:creationId xmlns:a16="http://schemas.microsoft.com/office/drawing/2014/main" id="{09888401-EBDD-C874-296E-4A3F9F652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0600" y="2861574"/>
          <a:ext cx="2523002" cy="477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215640" progId="Equation.DSMT4">
                  <p:embed/>
                </p:oleObj>
              </mc:Choice>
              <mc:Fallback>
                <p:oleObj name="Equation" r:id="rId6" imgW="1143000" imgH="215640" progId="Equation.DSMT4">
                  <p:embed/>
                  <p:pic>
                    <p:nvPicPr>
                      <p:cNvPr id="7" name="Oggetto 6">
                        <a:extLst>
                          <a:ext uri="{FF2B5EF4-FFF2-40B4-BE49-F238E27FC236}">
                            <a16:creationId xmlns:a16="http://schemas.microsoft.com/office/drawing/2014/main" id="{09888401-EBDD-C874-296E-4A3F9F6528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10600" y="2861574"/>
                        <a:ext cx="2523002" cy="477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olo 1">
            <a:extLst>
              <a:ext uri="{FF2B5EF4-FFF2-40B4-BE49-F238E27FC236}">
                <a16:creationId xmlns:a16="http://schemas.microsoft.com/office/drawing/2014/main" id="{18523042-3150-6FFF-02D2-A4BEA30DAE5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Temperature model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5140322-C506-3302-3CBD-60988F8C163F}"/>
              </a:ext>
            </a:extLst>
          </p:cNvPr>
          <p:cNvSpPr/>
          <p:nvPr/>
        </p:nvSpPr>
        <p:spPr>
          <a:xfrm>
            <a:off x="2218395" y="5326635"/>
            <a:ext cx="1794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Thermal capacity</a:t>
            </a:r>
            <a:endParaRPr lang="it-IT" dirty="0"/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9D493959-AE88-CCE1-405B-B61CAE917E26}"/>
              </a:ext>
            </a:extLst>
          </p:cNvPr>
          <p:cNvCxnSpPr>
            <a:cxnSpLocks/>
          </p:cNvCxnSpPr>
          <p:nvPr/>
        </p:nvCxnSpPr>
        <p:spPr>
          <a:xfrm flipV="1">
            <a:off x="3108732" y="3969669"/>
            <a:ext cx="351330" cy="1342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F120625-3CD3-1636-ED5B-33A9C921C875}"/>
              </a:ext>
            </a:extLst>
          </p:cNvPr>
          <p:cNvSpPr txBox="1"/>
          <p:nvPr/>
        </p:nvSpPr>
        <p:spPr>
          <a:xfrm>
            <a:off x="8610600" y="4912334"/>
            <a:ext cx="2117063" cy="1323439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it-IT" sz="2000" b="1" dirty="0">
              <a:latin typeface="+mj-lt"/>
            </a:endParaRPr>
          </a:p>
          <a:p>
            <a:pPr algn="ctr"/>
            <a:r>
              <a:rPr lang="it-IT" sz="2000" b="1" dirty="0">
                <a:latin typeface="+mj-lt"/>
              </a:rPr>
              <a:t>Bounds on min and max </a:t>
            </a:r>
            <a:r>
              <a:rPr lang="it-IT" sz="2000" b="1" dirty="0" err="1">
                <a:latin typeface="+mj-lt"/>
              </a:rPr>
              <a:t>values</a:t>
            </a:r>
            <a:endParaRPr lang="it-IT" sz="2000" b="1" dirty="0">
              <a:latin typeface="+mj-lt"/>
            </a:endParaRPr>
          </a:p>
          <a:p>
            <a:pPr algn="ctr"/>
            <a:endParaRPr lang="it-IT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441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28" grpId="0"/>
      <p:bldP spid="15" grpId="0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Project for the report</a:t>
            </a:r>
          </a:p>
        </p:txBody>
      </p:sp>
    </p:spTree>
    <p:extLst>
      <p:ext uri="{BB962C8B-B14F-4D97-AF65-F5344CB8AC3E}">
        <p14:creationId xmlns:p14="http://schemas.microsoft.com/office/powerpoint/2010/main" val="1359423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/>
          <p:cNvSpPr txBox="1"/>
          <p:nvPr/>
        </p:nvSpPr>
        <p:spPr>
          <a:xfrm>
            <a:off x="787874" y="399254"/>
            <a:ext cx="6272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/>
              <a:t>WE HAVE i=1,…,N </a:t>
            </a:r>
            <a:r>
              <a:rPr lang="it-IT" sz="3200" dirty="0" err="1"/>
              <a:t>local</a:t>
            </a:r>
            <a:r>
              <a:rPr lang="it-IT" sz="3200" dirty="0"/>
              <a:t> </a:t>
            </a:r>
            <a:r>
              <a:rPr lang="it-IT" sz="3200" dirty="0" err="1"/>
              <a:t>users</a:t>
            </a:r>
            <a:endParaRPr lang="it-IT" sz="3200" dirty="0"/>
          </a:p>
        </p:txBody>
      </p:sp>
      <p:graphicFrame>
        <p:nvGraphicFramePr>
          <p:cNvPr id="4" name="Ogget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616192"/>
              </p:ext>
            </p:extLst>
          </p:nvPr>
        </p:nvGraphicFramePr>
        <p:xfrm>
          <a:off x="685433" y="1982973"/>
          <a:ext cx="6374790" cy="601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241200" progId="Equation.DSMT4">
                  <p:embed/>
                </p:oleObj>
              </mc:Choice>
              <mc:Fallback>
                <p:oleObj name="Equation" r:id="rId2" imgW="2476440" imgH="241200" progId="Equation.DSMT4">
                  <p:embed/>
                  <p:pic>
                    <p:nvPicPr>
                      <p:cNvPr id="4" name="Ogget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433" y="1982973"/>
                        <a:ext cx="6374790" cy="6016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tangolo 4"/>
          <p:cNvSpPr/>
          <p:nvPr/>
        </p:nvSpPr>
        <p:spPr>
          <a:xfrm>
            <a:off x="787874" y="4570761"/>
            <a:ext cx="18293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=0,1,2…..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endParaRPr lang="it-IT" sz="2400" dirty="0"/>
          </a:p>
        </p:txBody>
      </p:sp>
      <p:sp>
        <p:nvSpPr>
          <p:cNvPr id="7" name="Rettangolo 6"/>
          <p:cNvSpPr/>
          <p:nvPr/>
        </p:nvSpPr>
        <p:spPr>
          <a:xfrm>
            <a:off x="3096626" y="4570760"/>
            <a:ext cx="11304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=1…..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endParaRPr lang="it-IT" sz="2400" dirty="0"/>
          </a:p>
        </p:txBody>
      </p:sp>
      <p:graphicFrame>
        <p:nvGraphicFramePr>
          <p:cNvPr id="8" name="Ogget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884249"/>
              </p:ext>
            </p:extLst>
          </p:nvPr>
        </p:nvGraphicFramePr>
        <p:xfrm>
          <a:off x="501650" y="3000375"/>
          <a:ext cx="49371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600" imgH="241200" progId="Equation.DSMT4">
                  <p:embed/>
                </p:oleObj>
              </mc:Choice>
              <mc:Fallback>
                <p:oleObj name="Equation" r:id="rId4" imgW="2082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1650" y="3000375"/>
                        <a:ext cx="4937125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>
            <a:extLst>
              <a:ext uri="{FF2B5EF4-FFF2-40B4-BE49-F238E27FC236}">
                <a16:creationId xmlns:a16="http://schemas.microsoft.com/office/drawing/2014/main" id="{11851A44-B0DC-4F18-0B2A-CA3984014978}"/>
              </a:ext>
            </a:extLst>
          </p:cNvPr>
          <p:cNvSpPr/>
          <p:nvPr/>
        </p:nvSpPr>
        <p:spPr>
          <a:xfrm>
            <a:off x="5948218" y="4230255"/>
            <a:ext cx="3648364" cy="1209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Change</a:t>
            </a:r>
            <a:r>
              <a:rPr lang="it-IT" dirty="0"/>
              <a:t> storage state </a:t>
            </a:r>
            <a:r>
              <a:rPr lang="it-IT" dirty="0" err="1"/>
              <a:t>equation</a:t>
            </a:r>
            <a:endParaRPr lang="it-IT" dirty="0"/>
          </a:p>
          <a:p>
            <a:pPr algn="ctr"/>
            <a:r>
              <a:rPr lang="it-IT" dirty="0" err="1"/>
              <a:t>Add</a:t>
            </a:r>
            <a:r>
              <a:rPr lang="it-IT" dirty="0"/>
              <a:t> </a:t>
            </a:r>
            <a:r>
              <a:rPr lang="it-IT" dirty="0" err="1"/>
              <a:t>heat</a:t>
            </a:r>
            <a:r>
              <a:rPr lang="it-IT" dirty="0"/>
              <a:t> pump</a:t>
            </a:r>
          </a:p>
          <a:p>
            <a:pPr algn="ctr"/>
            <a:r>
              <a:rPr lang="it-IT" dirty="0" err="1"/>
              <a:t>Add</a:t>
            </a:r>
            <a:r>
              <a:rPr lang="it-IT" dirty="0"/>
              <a:t> EV</a:t>
            </a:r>
          </a:p>
        </p:txBody>
      </p:sp>
    </p:spTree>
    <p:extLst>
      <p:ext uri="{BB962C8B-B14F-4D97-AF65-F5344CB8AC3E}">
        <p14:creationId xmlns:p14="http://schemas.microsoft.com/office/powerpoint/2010/main" val="1581319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/>
          <p:cNvSpPr txBox="1"/>
          <p:nvPr/>
        </p:nvSpPr>
        <p:spPr>
          <a:xfrm>
            <a:off x="357051" y="539931"/>
            <a:ext cx="3466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/>
              <a:t>BOUNDS</a:t>
            </a:r>
          </a:p>
        </p:txBody>
      </p:sp>
      <p:sp>
        <p:nvSpPr>
          <p:cNvPr id="5" name="Rettangolo 4"/>
          <p:cNvSpPr/>
          <p:nvPr/>
        </p:nvSpPr>
        <p:spPr>
          <a:xfrm>
            <a:off x="1350080" y="5805869"/>
            <a:ext cx="18293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=0,1,2…..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endParaRPr lang="it-IT" sz="2400" dirty="0"/>
          </a:p>
        </p:txBody>
      </p:sp>
      <p:graphicFrame>
        <p:nvGraphicFramePr>
          <p:cNvPr id="7" name="Ogget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922806"/>
              </p:ext>
            </p:extLst>
          </p:nvPr>
        </p:nvGraphicFramePr>
        <p:xfrm>
          <a:off x="537953" y="1805825"/>
          <a:ext cx="4624388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5840" imgH="241200" progId="Equation.DSMT4">
                  <p:embed/>
                </p:oleObj>
              </mc:Choice>
              <mc:Fallback>
                <p:oleObj name="Equation" r:id="rId2" imgW="1815840" imgH="241200" progId="Equation.DSMT4">
                  <p:embed/>
                  <p:pic>
                    <p:nvPicPr>
                      <p:cNvPr id="7" name="Ogget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53" y="1805825"/>
                        <a:ext cx="4624388" cy="6207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gget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10135"/>
              </p:ext>
            </p:extLst>
          </p:nvPr>
        </p:nvGraphicFramePr>
        <p:xfrm>
          <a:off x="654050" y="3538538"/>
          <a:ext cx="437673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41400" imgH="241200" progId="Equation.DSMT4">
                  <p:embed/>
                </p:oleObj>
              </mc:Choice>
              <mc:Fallback>
                <p:oleObj name="Equation" r:id="rId4" imgW="1841400" imgH="241200" progId="Equation.DSMT4">
                  <p:embed/>
                  <p:pic>
                    <p:nvPicPr>
                      <p:cNvPr id="8" name="Ogget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3538538"/>
                        <a:ext cx="4376738" cy="577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gget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854100"/>
              </p:ext>
            </p:extLst>
          </p:nvPr>
        </p:nvGraphicFramePr>
        <p:xfrm>
          <a:off x="938213" y="2662238"/>
          <a:ext cx="347027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22360" imgH="241200" progId="Equation.DSMT4">
                  <p:embed/>
                </p:oleObj>
              </mc:Choice>
              <mc:Fallback>
                <p:oleObj name="Equation" r:id="rId6" imgW="1422360" imgH="241200" progId="Equation.DSMT4">
                  <p:embed/>
                  <p:pic>
                    <p:nvPicPr>
                      <p:cNvPr id="9" name="Ogget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2662238"/>
                        <a:ext cx="3470275" cy="5857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gget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015909"/>
              </p:ext>
            </p:extLst>
          </p:nvPr>
        </p:nvGraphicFramePr>
        <p:xfrm>
          <a:off x="660400" y="4375150"/>
          <a:ext cx="43402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92160" imgH="241200" progId="Equation.DSMT4">
                  <p:embed/>
                </p:oleObj>
              </mc:Choice>
              <mc:Fallback>
                <p:oleObj name="Equation" r:id="rId8" imgW="1892160" imgH="241200" progId="Equation.DSMT4">
                  <p:embed/>
                  <p:pic>
                    <p:nvPicPr>
                      <p:cNvPr id="6" name="Oggetto 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0400" y="4375150"/>
                        <a:ext cx="4340225" cy="554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ttangolo 9"/>
          <p:cNvSpPr/>
          <p:nvPr/>
        </p:nvSpPr>
        <p:spPr>
          <a:xfrm>
            <a:off x="4268406" y="5805868"/>
            <a:ext cx="11304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=1…..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endParaRPr lang="it-IT" sz="240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807BA6B8-4489-A77F-0B8D-ED4B20636383}"/>
              </a:ext>
            </a:extLst>
          </p:cNvPr>
          <p:cNvSpPr/>
          <p:nvPr/>
        </p:nvSpPr>
        <p:spPr>
          <a:xfrm>
            <a:off x="5883564" y="2617500"/>
            <a:ext cx="3648364" cy="1209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Add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bound</a:t>
            </a:r>
            <a:r>
              <a:rPr lang="it-IT" dirty="0"/>
              <a:t> </a:t>
            </a:r>
            <a:r>
              <a:rPr lang="it-IT" dirty="0" err="1"/>
              <a:t>constraints</a:t>
            </a:r>
            <a:endParaRPr lang="it-IT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F39835E-89FF-3218-E759-B7D3893C1DAF}"/>
              </a:ext>
            </a:extLst>
          </p:cNvPr>
          <p:cNvSpPr/>
          <p:nvPr/>
        </p:nvSpPr>
        <p:spPr>
          <a:xfrm>
            <a:off x="6386946" y="4515572"/>
            <a:ext cx="3648364" cy="1209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Add</a:t>
            </a:r>
            <a:r>
              <a:rPr lang="it-IT" dirty="0"/>
              <a:t> </a:t>
            </a:r>
            <a:r>
              <a:rPr lang="it-IT" dirty="0" err="1"/>
              <a:t>Evs</a:t>
            </a:r>
            <a:r>
              <a:rPr lang="it-IT" dirty="0"/>
              <a:t> demand </a:t>
            </a:r>
            <a:r>
              <a:rPr lang="it-IT" dirty="0" err="1"/>
              <a:t>satisfaction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37150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68438" y="240841"/>
            <a:ext cx="8596668" cy="1320800"/>
          </a:xfrm>
        </p:spPr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objective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: case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demand</a:t>
            </a:r>
            <a:r>
              <a:rPr lang="it-IT" dirty="0"/>
              <a:t> </a:t>
            </a:r>
            <a:r>
              <a:rPr lang="it-IT" dirty="0" err="1"/>
              <a:t>response</a:t>
            </a:r>
            <a:endParaRPr lang="it-IT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graphicFrame>
        <p:nvGraphicFramePr>
          <p:cNvPr id="4" name="Ogget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565103"/>
              </p:ext>
            </p:extLst>
          </p:nvPr>
        </p:nvGraphicFramePr>
        <p:xfrm>
          <a:off x="668438" y="1587767"/>
          <a:ext cx="86360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33840" imgH="634680" progId="Equation.DSMT4">
                  <p:embed/>
                </p:oleObj>
              </mc:Choice>
              <mc:Fallback>
                <p:oleObj name="Equation" r:id="rId2" imgW="4533840" imgH="634680" progId="Equation.DSMT4">
                  <p:embed/>
                  <p:pic>
                    <p:nvPicPr>
                      <p:cNvPr id="4" name="Ogget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438" y="1587767"/>
                        <a:ext cx="8636000" cy="1212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17" name="CasellaDiTesto 16"/>
          <p:cNvSpPr txBox="1"/>
          <p:nvPr/>
        </p:nvSpPr>
        <p:spPr>
          <a:xfrm>
            <a:off x="836023" y="3135086"/>
            <a:ext cx="305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Cost</a:t>
            </a:r>
            <a:r>
              <a:rPr lang="it-IT" dirty="0"/>
              <a:t> for </a:t>
            </a:r>
            <a:r>
              <a:rPr lang="it-IT" dirty="0" err="1"/>
              <a:t>energy</a:t>
            </a:r>
            <a:r>
              <a:rPr lang="it-IT" dirty="0"/>
              <a:t> </a:t>
            </a:r>
            <a:r>
              <a:rPr lang="it-IT" dirty="0" err="1"/>
              <a:t>taken</a:t>
            </a:r>
            <a:r>
              <a:rPr lang="it-IT" dirty="0"/>
              <a:t> from the </a:t>
            </a:r>
            <a:r>
              <a:rPr lang="it-IT" dirty="0" err="1"/>
              <a:t>grid</a:t>
            </a:r>
            <a:endParaRPr lang="it-IT" dirty="0"/>
          </a:p>
        </p:txBody>
      </p:sp>
      <p:sp>
        <p:nvSpPr>
          <p:cNvPr id="18" name="Freccia in su 17"/>
          <p:cNvSpPr/>
          <p:nvPr/>
        </p:nvSpPr>
        <p:spPr>
          <a:xfrm>
            <a:off x="2612571" y="2696411"/>
            <a:ext cx="269966" cy="41254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in su 18"/>
          <p:cNvSpPr/>
          <p:nvPr/>
        </p:nvSpPr>
        <p:spPr>
          <a:xfrm>
            <a:off x="4831789" y="2766024"/>
            <a:ext cx="269966" cy="41254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/>
          <p:cNvSpPr txBox="1"/>
          <p:nvPr/>
        </p:nvSpPr>
        <p:spPr>
          <a:xfrm>
            <a:off x="3892731" y="3432993"/>
            <a:ext cx="305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Cost</a:t>
            </a:r>
            <a:r>
              <a:rPr lang="it-IT" dirty="0"/>
              <a:t> for </a:t>
            </a:r>
            <a:r>
              <a:rPr lang="it-IT" dirty="0" err="1"/>
              <a:t>energy</a:t>
            </a:r>
            <a:r>
              <a:rPr lang="it-IT" dirty="0"/>
              <a:t> </a:t>
            </a:r>
            <a:r>
              <a:rPr lang="it-IT" dirty="0" err="1"/>
              <a:t>sold</a:t>
            </a:r>
            <a:r>
              <a:rPr lang="it-IT" dirty="0"/>
              <a:t> </a:t>
            </a:r>
            <a:r>
              <a:rPr lang="it-IT" dirty="0" err="1"/>
              <a:t>tothe</a:t>
            </a:r>
            <a:r>
              <a:rPr lang="it-IT" dirty="0"/>
              <a:t> </a:t>
            </a:r>
            <a:r>
              <a:rPr lang="it-IT" dirty="0" err="1"/>
              <a:t>grid</a:t>
            </a:r>
            <a:endParaRPr lang="it-IT" dirty="0"/>
          </a:p>
        </p:txBody>
      </p:sp>
      <p:sp>
        <p:nvSpPr>
          <p:cNvPr id="21" name="Freccia in su 20"/>
          <p:cNvSpPr/>
          <p:nvPr/>
        </p:nvSpPr>
        <p:spPr>
          <a:xfrm>
            <a:off x="7474840" y="2722537"/>
            <a:ext cx="269966" cy="41254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/>
          <p:cNvSpPr txBox="1"/>
          <p:nvPr/>
        </p:nvSpPr>
        <p:spPr>
          <a:xfrm>
            <a:off x="7363097" y="3199191"/>
            <a:ext cx="305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Cost</a:t>
            </a:r>
            <a:r>
              <a:rPr lang="it-IT" dirty="0"/>
              <a:t> for gas </a:t>
            </a:r>
            <a:r>
              <a:rPr lang="it-IT" dirty="0" err="1"/>
              <a:t>used</a:t>
            </a:r>
            <a:r>
              <a:rPr lang="it-IT" dirty="0"/>
              <a:t> in generation </a:t>
            </a:r>
            <a:r>
              <a:rPr lang="it-IT" dirty="0" err="1"/>
              <a:t>units</a:t>
            </a:r>
            <a:endParaRPr lang="it-IT" dirty="0"/>
          </a:p>
        </p:txBody>
      </p:sp>
      <p:graphicFrame>
        <p:nvGraphicFramePr>
          <p:cNvPr id="8" name="Ogget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124686"/>
              </p:ext>
            </p:extLst>
          </p:nvPr>
        </p:nvGraphicFramePr>
        <p:xfrm>
          <a:off x="2350964" y="4676532"/>
          <a:ext cx="5682109" cy="1038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431640" progId="Equation.DSMT4">
                  <p:embed/>
                </p:oleObj>
              </mc:Choice>
              <mc:Fallback>
                <p:oleObj name="Equation" r:id="rId4" imgW="2361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50964" y="4676532"/>
                        <a:ext cx="5682109" cy="1038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gget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078898"/>
              </p:ext>
            </p:extLst>
          </p:nvPr>
        </p:nvGraphicFramePr>
        <p:xfrm>
          <a:off x="2222500" y="5891213"/>
          <a:ext cx="25241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680" imgH="241200" progId="Equation.DSMT4">
                  <p:embed/>
                </p:oleObj>
              </mc:Choice>
              <mc:Fallback>
                <p:oleObj name="Equation" r:id="rId6" imgW="1066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22500" y="5891213"/>
                        <a:ext cx="2524125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ttangolo 5">
            <a:extLst>
              <a:ext uri="{FF2B5EF4-FFF2-40B4-BE49-F238E27FC236}">
                <a16:creationId xmlns:a16="http://schemas.microsoft.com/office/drawing/2014/main" id="{3D330A18-1D3E-E06E-6640-C7D9FA3490D5}"/>
              </a:ext>
            </a:extLst>
          </p:cNvPr>
          <p:cNvSpPr/>
          <p:nvPr/>
        </p:nvSpPr>
        <p:spPr>
          <a:xfrm>
            <a:off x="8164945" y="4590882"/>
            <a:ext cx="2909456" cy="1209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Add</a:t>
            </a:r>
            <a:r>
              <a:rPr lang="it-IT" dirty="0"/>
              <a:t> tracking comfort temperature</a:t>
            </a:r>
          </a:p>
          <a:p>
            <a:pPr algn="ctr"/>
            <a:endParaRPr lang="it-IT" dirty="0"/>
          </a:p>
          <a:p>
            <a:pPr algn="ctr"/>
            <a:r>
              <a:rPr lang="it-IT" dirty="0" err="1"/>
              <a:t>Add</a:t>
            </a:r>
            <a:r>
              <a:rPr lang="it-IT" dirty="0"/>
              <a:t> </a:t>
            </a:r>
            <a:r>
              <a:rPr lang="it-IT" dirty="0" err="1"/>
              <a:t>emissions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9822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Three </a:t>
            </a:r>
            <a:r>
              <a:rPr lang="it-IT" dirty="0" err="1"/>
              <a:t>microgrids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45449" y="1378074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Microgrid</a:t>
            </a:r>
            <a:r>
              <a:rPr lang="it-IT" dirty="0"/>
              <a:t> 1: </a:t>
            </a:r>
            <a:r>
              <a:rPr lang="it-IT" dirty="0" err="1"/>
              <a:t>photovoltaics</a:t>
            </a:r>
            <a:r>
              <a:rPr lang="it-IT" dirty="0"/>
              <a:t>, </a:t>
            </a:r>
            <a:r>
              <a:rPr lang="it-IT" dirty="0" err="1"/>
              <a:t>electrical</a:t>
            </a:r>
            <a:r>
              <a:rPr lang="it-IT" dirty="0"/>
              <a:t> storage, </a:t>
            </a:r>
            <a:r>
              <a:rPr lang="it-IT" dirty="0" err="1"/>
              <a:t>fossil</a:t>
            </a:r>
            <a:r>
              <a:rPr lang="it-IT" dirty="0"/>
              <a:t> </a:t>
            </a:r>
            <a:r>
              <a:rPr lang="it-IT" dirty="0" err="1"/>
              <a:t>fuel</a:t>
            </a:r>
            <a:r>
              <a:rPr lang="it-IT" dirty="0"/>
              <a:t>, connection to the </a:t>
            </a:r>
            <a:r>
              <a:rPr lang="it-IT" dirty="0" err="1"/>
              <a:t>external</a:t>
            </a:r>
            <a:r>
              <a:rPr lang="it-IT" dirty="0"/>
              <a:t> </a:t>
            </a:r>
            <a:r>
              <a:rPr lang="it-IT" dirty="0" err="1"/>
              <a:t>grid</a:t>
            </a:r>
            <a:r>
              <a:rPr lang="it-IT" dirty="0"/>
              <a:t>, </a:t>
            </a:r>
            <a:r>
              <a:rPr lang="it-IT" dirty="0" err="1"/>
              <a:t>fixed</a:t>
            </a:r>
            <a:r>
              <a:rPr lang="it-IT" dirty="0"/>
              <a:t> </a:t>
            </a:r>
            <a:r>
              <a:rPr lang="it-IT" dirty="0" err="1"/>
              <a:t>electrical</a:t>
            </a:r>
            <a:r>
              <a:rPr lang="it-IT" dirty="0"/>
              <a:t> demand,  </a:t>
            </a:r>
            <a:r>
              <a:rPr lang="it-IT" dirty="0" err="1"/>
              <a:t>connected</a:t>
            </a:r>
            <a:r>
              <a:rPr lang="it-IT" dirty="0"/>
              <a:t> to </a:t>
            </a:r>
            <a:r>
              <a:rPr lang="it-IT" dirty="0" err="1"/>
              <a:t>Microgrid</a:t>
            </a:r>
            <a:r>
              <a:rPr lang="it-IT" dirty="0"/>
              <a:t> 2</a:t>
            </a:r>
          </a:p>
          <a:p>
            <a:r>
              <a:rPr lang="it-IT" dirty="0" err="1"/>
              <a:t>Microgrid</a:t>
            </a:r>
            <a:r>
              <a:rPr lang="it-IT" dirty="0"/>
              <a:t> 2: </a:t>
            </a:r>
            <a:r>
              <a:rPr lang="it-IT" dirty="0" err="1"/>
              <a:t>electric</a:t>
            </a:r>
            <a:r>
              <a:rPr lang="it-IT" dirty="0"/>
              <a:t> </a:t>
            </a:r>
            <a:r>
              <a:rPr lang="it-IT" dirty="0" err="1"/>
              <a:t>vehicles</a:t>
            </a:r>
            <a:r>
              <a:rPr lang="it-IT" dirty="0"/>
              <a:t> (V2G), building with </a:t>
            </a:r>
            <a:r>
              <a:rPr lang="it-IT" dirty="0" err="1"/>
              <a:t>heat</a:t>
            </a:r>
            <a:r>
              <a:rPr lang="it-IT" dirty="0"/>
              <a:t> pump, wind power, </a:t>
            </a:r>
            <a:r>
              <a:rPr lang="it-IT" dirty="0" err="1"/>
              <a:t>electrical</a:t>
            </a:r>
            <a:r>
              <a:rPr lang="it-IT" dirty="0"/>
              <a:t> demand </a:t>
            </a:r>
            <a:r>
              <a:rPr lang="it-IT" dirty="0" err="1"/>
              <a:t>fixed</a:t>
            </a:r>
            <a:r>
              <a:rPr lang="it-IT" dirty="0"/>
              <a:t> and </a:t>
            </a:r>
            <a:r>
              <a:rPr lang="it-IT" dirty="0" err="1"/>
              <a:t>deferrable</a:t>
            </a:r>
            <a:r>
              <a:rPr lang="it-IT" dirty="0"/>
              <a:t>, connection to </a:t>
            </a:r>
            <a:r>
              <a:rPr lang="it-IT" dirty="0" err="1"/>
              <a:t>Microgrid</a:t>
            </a:r>
            <a:r>
              <a:rPr lang="it-IT" dirty="0"/>
              <a:t> 1 and </a:t>
            </a:r>
            <a:r>
              <a:rPr lang="it-IT" dirty="0" err="1"/>
              <a:t>Microgrid</a:t>
            </a:r>
            <a:r>
              <a:rPr lang="it-IT" dirty="0"/>
              <a:t> 3;</a:t>
            </a:r>
          </a:p>
          <a:p>
            <a:r>
              <a:rPr lang="it-IT" dirty="0" err="1"/>
              <a:t>Microgrid</a:t>
            </a:r>
            <a:r>
              <a:rPr lang="it-IT" dirty="0"/>
              <a:t> 3: connection to </a:t>
            </a:r>
            <a:r>
              <a:rPr lang="it-IT" dirty="0" err="1"/>
              <a:t>microgrid</a:t>
            </a:r>
            <a:r>
              <a:rPr lang="it-IT" dirty="0"/>
              <a:t> 2 and to the </a:t>
            </a:r>
            <a:r>
              <a:rPr lang="it-IT" dirty="0" err="1"/>
              <a:t>external</a:t>
            </a:r>
            <a:r>
              <a:rPr lang="it-IT" dirty="0"/>
              <a:t> </a:t>
            </a:r>
            <a:r>
              <a:rPr lang="it-IT" dirty="0" err="1"/>
              <a:t>grid</a:t>
            </a:r>
            <a:r>
              <a:rPr lang="it-IT" dirty="0"/>
              <a:t>, storage system, </a:t>
            </a:r>
            <a:r>
              <a:rPr lang="it-IT" dirty="0" err="1"/>
              <a:t>fixed</a:t>
            </a:r>
            <a:r>
              <a:rPr lang="it-IT" dirty="0"/>
              <a:t> </a:t>
            </a:r>
            <a:r>
              <a:rPr lang="it-IT" dirty="0" err="1"/>
              <a:t>electrical</a:t>
            </a:r>
            <a:r>
              <a:rPr lang="it-IT" dirty="0"/>
              <a:t> demand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 err="1"/>
              <a:t>Objectives</a:t>
            </a:r>
            <a:r>
              <a:rPr lang="it-IT" dirty="0"/>
              <a:t>: </a:t>
            </a:r>
            <a:r>
              <a:rPr lang="it-IT" dirty="0" err="1"/>
              <a:t>minimize</a:t>
            </a:r>
            <a:r>
              <a:rPr lang="it-IT" dirty="0"/>
              <a:t> costs and </a:t>
            </a:r>
            <a:r>
              <a:rPr lang="it-IT" dirty="0" err="1"/>
              <a:t>emissions</a:t>
            </a:r>
            <a:r>
              <a:rPr lang="it-IT" dirty="0"/>
              <a:t> (30€ per </a:t>
            </a:r>
            <a:r>
              <a:rPr lang="it-IT" dirty="0" err="1"/>
              <a:t>tonns</a:t>
            </a:r>
            <a:r>
              <a:rPr lang="it-IT" dirty="0"/>
              <a:t> of CO2)</a:t>
            </a:r>
          </a:p>
          <a:p>
            <a:pPr marL="0" indent="0">
              <a:buNone/>
            </a:pPr>
            <a:r>
              <a:rPr lang="it-IT" dirty="0" err="1"/>
              <a:t>Find</a:t>
            </a:r>
            <a:r>
              <a:rPr lang="it-IT" dirty="0"/>
              <a:t> the </a:t>
            </a:r>
            <a:r>
              <a:rPr lang="it-IT" dirty="0" err="1"/>
              <a:t>pareto</a:t>
            </a:r>
            <a:r>
              <a:rPr lang="it-IT" dirty="0"/>
              <a:t> curve (costs (</a:t>
            </a:r>
            <a:r>
              <a:rPr lang="it-IT" dirty="0" err="1"/>
              <a:t>including</a:t>
            </a:r>
            <a:r>
              <a:rPr lang="it-IT" dirty="0"/>
              <a:t> </a:t>
            </a:r>
            <a:r>
              <a:rPr lang="it-IT" dirty="0" err="1"/>
              <a:t>those</a:t>
            </a:r>
            <a:r>
              <a:rPr lang="it-IT" dirty="0"/>
              <a:t> of </a:t>
            </a:r>
            <a:r>
              <a:rPr lang="it-IT" dirty="0" err="1"/>
              <a:t>emissions</a:t>
            </a:r>
            <a:r>
              <a:rPr lang="it-IT" dirty="0"/>
              <a:t>, tracking) </a:t>
            </a:r>
          </a:p>
          <a:p>
            <a:pPr marL="0" indent="0">
              <a:buNone/>
            </a:pPr>
            <a:r>
              <a:rPr lang="it-IT" dirty="0"/>
              <a:t>Eliminate tracking comfort temperature,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bound</a:t>
            </a:r>
            <a:r>
              <a:rPr lang="it-IT" dirty="0"/>
              <a:t> </a:t>
            </a:r>
            <a:r>
              <a:rPr lang="it-IT" dirty="0" err="1"/>
              <a:t>constraints</a:t>
            </a:r>
            <a:r>
              <a:rPr lang="it-IT" dirty="0"/>
              <a:t> for temperature, </a:t>
            </a:r>
            <a:r>
              <a:rPr lang="it-IT" dirty="0" err="1"/>
              <a:t>find</a:t>
            </a:r>
            <a:r>
              <a:rPr lang="it-IT" dirty="0"/>
              <a:t> the </a:t>
            </a:r>
            <a:r>
              <a:rPr lang="it-IT" dirty="0" err="1"/>
              <a:t>pareto</a:t>
            </a:r>
            <a:r>
              <a:rPr lang="it-IT" dirty="0"/>
              <a:t> curve costs vs </a:t>
            </a:r>
            <a:r>
              <a:rPr lang="it-IT" dirty="0" err="1"/>
              <a:t>emissions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47019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>
          <a:xfrm>
            <a:off x="8619253" y="6492875"/>
            <a:ext cx="683339" cy="365125"/>
          </a:xfrm>
        </p:spPr>
        <p:txBody>
          <a:bodyPr/>
          <a:lstStyle/>
          <a:p>
            <a:fld id="{C92A1A19-B276-44BB-820A-8FF064F767B5}" type="slidenum">
              <a:rPr lang="it-IT" smtClean="0"/>
              <a:t>11</a:t>
            </a:fld>
            <a:endParaRPr lang="it-IT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graphicFrame>
        <p:nvGraphicFramePr>
          <p:cNvPr id="5" name="Ogget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767643"/>
              </p:ext>
            </p:extLst>
          </p:nvPr>
        </p:nvGraphicFramePr>
        <p:xfrm>
          <a:off x="1829474" y="3425359"/>
          <a:ext cx="499745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368280" progId="Equation.DSMT4">
                  <p:embed/>
                </p:oleObj>
              </mc:Choice>
              <mc:Fallback>
                <p:oleObj name="Equation" r:id="rId2" imgW="1892160" imgH="368280" progId="Equation.DSMT4">
                  <p:embed/>
                  <p:pic>
                    <p:nvPicPr>
                      <p:cNvPr id="5" name="Ogget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9474" y="3425359"/>
                        <a:ext cx="4997450" cy="881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ttangolo 8"/>
          <p:cNvSpPr/>
          <p:nvPr/>
        </p:nvSpPr>
        <p:spPr>
          <a:xfrm>
            <a:off x="4924926" y="5089710"/>
            <a:ext cx="30319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thermal fluxes exchanged between the building and the external environment</a:t>
            </a:r>
            <a:endParaRPr lang="it-IT" dirty="0"/>
          </a:p>
        </p:txBody>
      </p:sp>
      <p:cxnSp>
        <p:nvCxnSpPr>
          <p:cNvPr id="11" name="Connettore 2 10"/>
          <p:cNvCxnSpPr/>
          <p:nvPr/>
        </p:nvCxnSpPr>
        <p:spPr>
          <a:xfrm flipV="1">
            <a:off x="6015790" y="4118496"/>
            <a:ext cx="80210" cy="971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/>
          <p:cNvCxnSpPr>
            <a:cxnSpLocks/>
            <a:stCxn id="24" idx="0"/>
          </p:cNvCxnSpPr>
          <p:nvPr/>
        </p:nvCxnSpPr>
        <p:spPr>
          <a:xfrm flipV="1">
            <a:off x="4154906" y="4112162"/>
            <a:ext cx="314924" cy="853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tangolo 23"/>
          <p:cNvSpPr/>
          <p:nvPr/>
        </p:nvSpPr>
        <p:spPr>
          <a:xfrm>
            <a:off x="3639380" y="4965582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fan coils </a:t>
            </a:r>
            <a:endParaRPr lang="it-IT" dirty="0"/>
          </a:p>
        </p:txBody>
      </p:sp>
      <p:sp>
        <p:nvSpPr>
          <p:cNvPr id="28" name="Rettangolo 27"/>
          <p:cNvSpPr/>
          <p:nvPr/>
        </p:nvSpPr>
        <p:spPr>
          <a:xfrm>
            <a:off x="6096000" y="2812125"/>
            <a:ext cx="214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Radiation and people</a:t>
            </a:r>
            <a:endParaRPr lang="it-IT" dirty="0"/>
          </a:p>
        </p:txBody>
      </p:sp>
      <p:cxnSp>
        <p:nvCxnSpPr>
          <p:cNvPr id="30" name="Connettore 2 29"/>
          <p:cNvCxnSpPr>
            <a:cxnSpLocks/>
          </p:cNvCxnSpPr>
          <p:nvPr/>
        </p:nvCxnSpPr>
        <p:spPr>
          <a:xfrm flipH="1">
            <a:off x="5534699" y="3207299"/>
            <a:ext cx="521196" cy="330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35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graphicFrame>
        <p:nvGraphicFramePr>
          <p:cNvPr id="36" name="Oggetto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309613"/>
              </p:ext>
            </p:extLst>
          </p:nvPr>
        </p:nvGraphicFramePr>
        <p:xfrm>
          <a:off x="8639190" y="4067838"/>
          <a:ext cx="19716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80880" progId="Equation.DSMT4">
                  <p:embed/>
                </p:oleObj>
              </mc:Choice>
              <mc:Fallback>
                <p:oleObj name="Equation" r:id="rId4" imgW="914400" imgH="380880" progId="Equation.DSMT4">
                  <p:embed/>
                  <p:pic>
                    <p:nvPicPr>
                      <p:cNvPr id="36" name="Oggetto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9190" y="4067838"/>
                        <a:ext cx="1971675" cy="831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5E0E2CCB-49DA-5444-C6DE-08EDE56F0421}"/>
              </a:ext>
            </a:extLst>
          </p:cNvPr>
          <p:cNvGrpSpPr/>
          <p:nvPr/>
        </p:nvGrpSpPr>
        <p:grpSpPr>
          <a:xfrm>
            <a:off x="1356648" y="4319606"/>
            <a:ext cx="1780674" cy="1272123"/>
            <a:chOff x="1328058" y="3868093"/>
            <a:chExt cx="1780674" cy="1272123"/>
          </a:xfrm>
        </p:grpSpPr>
        <p:sp>
          <p:nvSpPr>
            <p:cNvPr id="6" name="CasellaDiTesto 5"/>
            <p:cNvSpPr txBox="1"/>
            <p:nvPr/>
          </p:nvSpPr>
          <p:spPr>
            <a:xfrm>
              <a:off x="1328058" y="4493885"/>
              <a:ext cx="17806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 err="1"/>
                <a:t>Internal</a:t>
              </a:r>
              <a:r>
                <a:rPr lang="it-IT" dirty="0"/>
                <a:t> temperature</a:t>
              </a:r>
            </a:p>
          </p:txBody>
        </p:sp>
        <p:cxnSp>
          <p:nvCxnSpPr>
            <p:cNvPr id="8" name="Connettore 2 7"/>
            <p:cNvCxnSpPr/>
            <p:nvPr/>
          </p:nvCxnSpPr>
          <p:spPr>
            <a:xfrm flipV="1">
              <a:off x="2027837" y="3897862"/>
              <a:ext cx="0" cy="481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2 18">
              <a:extLst>
                <a:ext uri="{FF2B5EF4-FFF2-40B4-BE49-F238E27FC236}">
                  <a16:creationId xmlns:a16="http://schemas.microsoft.com/office/drawing/2014/main" id="{1E10C1D2-A999-C310-4882-351071DF1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3981" y="3868093"/>
              <a:ext cx="304371" cy="6133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" name="Oggetto 6">
            <a:extLst>
              <a:ext uri="{FF2B5EF4-FFF2-40B4-BE49-F238E27FC236}">
                <a16:creationId xmlns:a16="http://schemas.microsoft.com/office/drawing/2014/main" id="{09888401-EBDD-C874-296E-4A3F9F652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650652"/>
              </p:ext>
            </p:extLst>
          </p:nvPr>
        </p:nvGraphicFramePr>
        <p:xfrm>
          <a:off x="8639190" y="3313087"/>
          <a:ext cx="2523002" cy="477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215640" progId="Equation.DSMT4">
                  <p:embed/>
                </p:oleObj>
              </mc:Choice>
              <mc:Fallback>
                <p:oleObj name="Equation" r:id="rId6" imgW="1143000" imgH="215640" progId="Equation.DSMT4">
                  <p:embed/>
                  <p:pic>
                    <p:nvPicPr>
                      <p:cNvPr id="7" name="Oggetto 6">
                        <a:extLst>
                          <a:ext uri="{FF2B5EF4-FFF2-40B4-BE49-F238E27FC236}">
                            <a16:creationId xmlns:a16="http://schemas.microsoft.com/office/drawing/2014/main" id="{09888401-EBDD-C874-296E-4A3F9F6528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39190" y="3313087"/>
                        <a:ext cx="2523002" cy="477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olo 1">
            <a:extLst>
              <a:ext uri="{FF2B5EF4-FFF2-40B4-BE49-F238E27FC236}">
                <a16:creationId xmlns:a16="http://schemas.microsoft.com/office/drawing/2014/main" id="{18523042-3150-6FFF-02D2-A4BEA30DAE5C}"/>
              </a:ext>
            </a:extLst>
          </p:cNvPr>
          <p:cNvSpPr txBox="1">
            <a:spLocks/>
          </p:cNvSpPr>
          <p:nvPr/>
        </p:nvSpPr>
        <p:spPr>
          <a:xfrm>
            <a:off x="3034779" y="330980"/>
            <a:ext cx="552103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Temperature model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5140322-C506-3302-3CBD-60988F8C163F}"/>
              </a:ext>
            </a:extLst>
          </p:cNvPr>
          <p:cNvSpPr/>
          <p:nvPr/>
        </p:nvSpPr>
        <p:spPr>
          <a:xfrm>
            <a:off x="2246985" y="5778148"/>
            <a:ext cx="1794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Thermal capacity</a:t>
            </a:r>
            <a:endParaRPr lang="it-IT" dirty="0"/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9D493959-AE88-CCE1-405B-B61CAE917E26}"/>
              </a:ext>
            </a:extLst>
          </p:cNvPr>
          <p:cNvCxnSpPr>
            <a:cxnSpLocks/>
          </p:cNvCxnSpPr>
          <p:nvPr/>
        </p:nvCxnSpPr>
        <p:spPr>
          <a:xfrm flipV="1">
            <a:off x="3137322" y="4421182"/>
            <a:ext cx="351330" cy="1342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3039FE1-9FDE-D08B-B495-137766921F29}"/>
              </a:ext>
            </a:extLst>
          </p:cNvPr>
          <p:cNvSpPr txBox="1"/>
          <p:nvPr/>
        </p:nvSpPr>
        <p:spPr>
          <a:xfrm>
            <a:off x="299400" y="1125500"/>
            <a:ext cx="4815083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C^B = 50 kWh/K;</a:t>
            </a:r>
          </a:p>
          <a:p>
            <a:pPr>
              <a:buNone/>
            </a:pP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R^ext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400; K/kW;</a:t>
            </a:r>
            <a:b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EER^HP = 1.8;</a:t>
            </a:r>
            <a:endParaRPr lang="it-IT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spcAft>
                <a:spcPts val="1200"/>
              </a:spcAft>
              <a:buNone/>
            </a:pPr>
            <a:r>
              <a:rPr lang="it-IT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Q_int</a:t>
            </a:r>
            <a:r>
              <a:rPr lang="it-IT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0.1 kW (for </a:t>
            </a:r>
            <a:r>
              <a:rPr lang="it-IT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each</a:t>
            </a:r>
            <a:r>
              <a:rPr lang="it-IT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it-IT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person</a:t>
            </a:r>
            <a:r>
              <a:rPr lang="it-IT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it-IT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at</a:t>
            </a:r>
            <a:r>
              <a:rPr lang="it-IT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time t)</a:t>
            </a:r>
          </a:p>
          <a:p>
            <a:pPr>
              <a:spcAft>
                <a:spcPts val="1200"/>
              </a:spcAft>
              <a:buNone/>
            </a:pPr>
            <a:r>
              <a:rPr lang="it-IT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Tracking Temperature in the </a:t>
            </a:r>
            <a:r>
              <a:rPr lang="it-IT" dirty="0" err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objective</a:t>
            </a:r>
            <a:r>
              <a:rPr lang="it-IT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function</a:t>
            </a:r>
            <a:r>
              <a:rPr lang="it-IT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: 21°C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92C534F-035F-EC3B-F501-9F86B7D3981C}"/>
              </a:ext>
            </a:extLst>
          </p:cNvPr>
          <p:cNvSpPr txBox="1"/>
          <p:nvPr/>
        </p:nvSpPr>
        <p:spPr>
          <a:xfrm>
            <a:off x="5588881" y="1104845"/>
            <a:ext cx="61006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it-IT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Number</a:t>
            </a:r>
            <a:r>
              <a:rPr lang="it-IT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of people: 25 from 8 to 13 and from 14 to 16, 0 </a:t>
            </a:r>
            <a:r>
              <a:rPr lang="it-IT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otherwise</a:t>
            </a:r>
            <a:endParaRPr lang="it-IT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spcAft>
                <a:spcPts val="1200"/>
              </a:spcAft>
              <a:buNone/>
            </a:pPr>
            <a:r>
              <a:rPr lang="it-IT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Maximum power from </a:t>
            </a:r>
            <a:r>
              <a:rPr lang="it-IT" dirty="0" err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heat</a:t>
            </a:r>
            <a:r>
              <a:rPr lang="it-IT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pump</a:t>
            </a:r>
            <a:endParaRPr lang="it-IT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282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28" grpId="0"/>
      <p:bldP spid="15" grpId="0"/>
    </p:bldLst>
  </p:timing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14230</TotalTime>
  <Words>423</Words>
  <Application>Microsoft Office PowerPoint</Application>
  <PresentationFormat>Widescreen</PresentationFormat>
  <Paragraphs>86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Trebuchet MS</vt:lpstr>
      <vt:lpstr>Wingdings 3</vt:lpstr>
      <vt:lpstr>Sfaccettatura</vt:lpstr>
      <vt:lpstr>Equation</vt:lpstr>
      <vt:lpstr>Model – System architecture</vt:lpstr>
      <vt:lpstr>PowerPoint Presentation</vt:lpstr>
      <vt:lpstr>PowerPoint Presentation</vt:lpstr>
      <vt:lpstr>PowerPoint Presentation</vt:lpstr>
      <vt:lpstr>PowerPoint Presentation</vt:lpstr>
      <vt:lpstr>Project for the report</vt:lpstr>
      <vt:lpstr>PowerPoint Presentation</vt:lpstr>
      <vt:lpstr>PowerPoint Presentation</vt:lpstr>
      <vt:lpstr>The objective function: case without demand response</vt:lpstr>
      <vt:lpstr>Three microgrids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MR</dc:creator>
  <cp:lastModifiedBy>TEH EMMANUEL KIMBI</cp:lastModifiedBy>
  <cp:revision>279</cp:revision>
  <cp:lastPrinted>2025-11-12T15:00:45Z</cp:lastPrinted>
  <dcterms:created xsi:type="dcterms:W3CDTF">2017-11-08T17:20:28Z</dcterms:created>
  <dcterms:modified xsi:type="dcterms:W3CDTF">2026-08-04T16:55:04Z</dcterms:modified>
</cp:coreProperties>
</file>